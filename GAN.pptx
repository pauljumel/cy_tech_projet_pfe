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3"/>
  </p:notesMasterIdLst>
  <p:handoutMasterIdLst>
    <p:handoutMasterId r:id="rId14"/>
  </p:handoutMasterIdLst>
  <p:sldIdLst>
    <p:sldId id="287" r:id="rId5"/>
    <p:sldId id="290" r:id="rId6"/>
    <p:sldId id="291" r:id="rId7"/>
    <p:sldId id="292" r:id="rId8"/>
    <p:sldId id="293" r:id="rId9"/>
    <p:sldId id="294" r:id="rId10"/>
    <p:sldId id="295" r:id="rId11"/>
    <p:sldId id="280" r:id="rId1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_Image version" id="{E8D0D622-F6C6-F44A-B365-B4A5FF6195C2}">
          <p14:sldIdLst>
            <p14:sldId id="287"/>
          </p14:sldIdLst>
        </p14:section>
        <p14:section name="Contents page" id="{9D221634-295C-7843-AF5C-A0CB4F229241}">
          <p14:sldIdLst/>
        </p14:section>
        <p14:section name="Chapter page" id="{FD05EE94-C931-8C4B-83A2-004B32AA1207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End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9002F"/>
    <a:srgbClr val="C7000B"/>
    <a:srgbClr val="575756"/>
    <a:srgbClr val="4B4C4B"/>
    <a:srgbClr val="353530"/>
    <a:srgbClr val="4D4D4C"/>
    <a:srgbClr val="DD4654"/>
    <a:srgbClr val="FFFFFF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5467"/>
  </p:normalViewPr>
  <p:slideViewPr>
    <p:cSldViewPr snapToGrid="0" snapToObjects="1">
      <p:cViewPr varScale="1">
        <p:scale>
          <a:sx n="118" d="100"/>
          <a:sy n="118" d="100"/>
        </p:scale>
        <p:origin x="91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51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xmlns="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+mn-lt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+mn-lt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0599EA8-6349-3349-B5F3-BFB77398A86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076" y="5972665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4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xmlns="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xmlns="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xmlns="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xmlns="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xmlns="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xmlns="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xmlns="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xmlns="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xmlns="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xmlns="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xmlns="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xmlns="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xmlns="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xmlns="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 smtClean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xmlns="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xmlns="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xmlns="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 smtClean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xmlns="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xmlns="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xmlns="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xmlns="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xmlns="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 smtClean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altLang="zh-CN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350" y="5239240"/>
            <a:ext cx="1875600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44" y="1474840"/>
            <a:ext cx="3984232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9357" y="2343267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xmlns="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7672" y="1654431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E938131F-E767-8C4B-9C7A-D10F13F75A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740163" y="725973"/>
            <a:ext cx="6564763" cy="1030908"/>
          </a:xfrm>
        </p:spPr>
        <p:txBody>
          <a:bodyPr>
            <a:noAutofit/>
          </a:bodyPr>
          <a:lstStyle/>
          <a:p>
            <a:r>
              <a:rPr lang="fr-FR" altLang="zh-CN" dirty="0" err="1" smtClean="0"/>
              <a:t>Generation</a:t>
            </a:r>
            <a:r>
              <a:rPr lang="fr-FR" altLang="zh-CN" dirty="0" smtClean="0"/>
              <a:t> of </a:t>
            </a:r>
            <a:r>
              <a:rPr lang="fr-FR" altLang="zh-CN" dirty="0" err="1" smtClean="0"/>
              <a:t>Challenging</a:t>
            </a:r>
            <a:r>
              <a:rPr lang="fr-FR" altLang="zh-CN" dirty="0" smtClean="0"/>
              <a:t> Networks for </a:t>
            </a:r>
            <a:r>
              <a:rPr lang="fr-FR" altLang="zh-CN" dirty="0" err="1" smtClean="0"/>
              <a:t>Optimization</a:t>
            </a:r>
            <a:r>
              <a:rPr lang="fr-FR" altLang="zh-CN" dirty="0" smtClean="0"/>
              <a:t> </a:t>
            </a:r>
            <a:r>
              <a:rPr lang="fr-FR" altLang="zh-CN" dirty="0" err="1" smtClean="0"/>
              <a:t>problems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90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193" y="150114"/>
            <a:ext cx="10740640" cy="993400"/>
          </a:xfrm>
        </p:spPr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639" y="1264833"/>
            <a:ext cx="6419712" cy="20658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114" y="3451955"/>
            <a:ext cx="3173298" cy="31019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565" t="2024"/>
          <a:stretch/>
        </p:blipFill>
        <p:spPr>
          <a:xfrm>
            <a:off x="6510461" y="3644373"/>
            <a:ext cx="3334921" cy="2909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7837" y="150114"/>
            <a:ext cx="2771593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4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(Network structures)</a:t>
            </a:r>
          </a:p>
        </p:txBody>
      </p:sp>
    </p:spTree>
    <p:extLst>
      <p:ext uri="{BB962C8B-B14F-4D97-AF65-F5344CB8AC3E}">
        <p14:creationId xmlns:p14="http://schemas.microsoft.com/office/powerpoint/2010/main" val="6572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193" y="150114"/>
            <a:ext cx="10740640" cy="993400"/>
          </a:xfrm>
        </p:spPr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27837" y="150114"/>
            <a:ext cx="3270126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4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fr-FR" sz="24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Optimization</a:t>
            </a:r>
            <a:r>
              <a:rPr kumimoji="1" lang="fr-FR" sz="24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sz="24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problems</a:t>
            </a:r>
            <a:r>
              <a:rPr kumimoji="1" lang="fr-FR" sz="24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343" y="1503630"/>
            <a:ext cx="3167534" cy="37959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chemeClr val="accent6">
                    <a:lumMod val="75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Multi-</a:t>
            </a:r>
            <a:r>
              <a:rPr kumimoji="1" lang="fr-FR" dirty="0" err="1" smtClean="0">
                <a:solidFill>
                  <a:schemeClr val="accent6">
                    <a:lumMod val="75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Commodity</a:t>
            </a:r>
            <a:r>
              <a:rPr kumimoji="1" lang="fr-FR" dirty="0" smtClean="0">
                <a:solidFill>
                  <a:schemeClr val="accent6">
                    <a:lumMod val="75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flow </a:t>
            </a:r>
            <a:r>
              <a:rPr kumimoji="1" lang="fr-FR" dirty="0" err="1" smtClean="0">
                <a:solidFill>
                  <a:schemeClr val="accent6">
                    <a:lumMod val="75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problem</a:t>
            </a:r>
            <a:r>
              <a:rPr kumimoji="1" lang="fr-FR" dirty="0" smtClean="0">
                <a:solidFill>
                  <a:schemeClr val="accent6">
                    <a:lumMod val="75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939" y="2169409"/>
            <a:ext cx="4600900" cy="2801099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961128" y="2325042"/>
            <a:ext cx="3472302" cy="3052783"/>
            <a:chOff x="961128" y="2325042"/>
            <a:chExt cx="3472302" cy="3052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xmlns="" id="{D06603C8-2FF4-40E1-A477-3E14C94BAC32}"/>
                    </a:ext>
                  </a:extLst>
                </p:cNvPr>
                <p:cNvSpPr txBox="1"/>
                <p:nvPr/>
              </p:nvSpPr>
              <p:spPr>
                <a:xfrm>
                  <a:off x="961128" y="2325042"/>
                  <a:ext cx="2034916" cy="8066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fr-F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fr-FR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fr-FR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fr-FR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fr-FR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p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  <m:sup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  <m:sup>
                                        <m:r>
                                          <a:rPr lang="fr-FR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D06603C8-2FF4-40E1-A477-3E14C94BA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128" y="2325042"/>
                  <a:ext cx="2034916" cy="80669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xmlns="" id="{F1E6D9BC-2AE3-4507-818A-5E66CBE2B415}"/>
                    </a:ext>
                  </a:extLst>
                </p:cNvPr>
                <p:cNvSpPr txBox="1"/>
                <p:nvPr/>
              </p:nvSpPr>
              <p:spPr>
                <a:xfrm>
                  <a:off x="1003067" y="3852465"/>
                  <a:ext cx="3430363" cy="806696"/>
                </a:xfrm>
                <a:prstGeom prst="rect">
                  <a:avLst/>
                </a:prstGeom>
                <a:noFill/>
                <a:ln>
                  <a:noFill/>
                  <a:prstDash val="dash"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∋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nary>
                          </m:e>
                        </m:nary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fr-F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fr-F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F1E6D9BC-2AE3-4507-818A-5E66CBE2B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067" y="3852465"/>
                  <a:ext cx="3430363" cy="80669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  <a:prstDash val="dash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xmlns="" id="{F1E6D9BC-2AE3-4507-818A-5E66CBE2B415}"/>
                    </a:ext>
                  </a:extLst>
                </p:cNvPr>
                <p:cNvSpPr txBox="1"/>
                <p:nvPr/>
              </p:nvSpPr>
              <p:spPr>
                <a:xfrm>
                  <a:off x="1466635" y="4824138"/>
                  <a:ext cx="1251613" cy="553687"/>
                </a:xfrm>
                <a:prstGeom prst="rect">
                  <a:avLst/>
                </a:prstGeom>
                <a:noFill/>
                <a:ln>
                  <a:noFill/>
                  <a:prstDash val="dash"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F1E6D9BC-2AE3-4507-818A-5E66CBE2B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6635" y="4824138"/>
                  <a:ext cx="1251613" cy="55368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4390"/>
                  </a:stretch>
                </a:blipFill>
                <a:ln>
                  <a:noFill/>
                  <a:prstDash val="dash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xmlns="" id="{F1E6D9BC-2AE3-4507-818A-5E66CBE2B415}"/>
                    </a:ext>
                  </a:extLst>
                </p:cNvPr>
                <p:cNvSpPr txBox="1"/>
                <p:nvPr/>
              </p:nvSpPr>
              <p:spPr>
                <a:xfrm>
                  <a:off x="962043" y="3120976"/>
                  <a:ext cx="2405787" cy="806696"/>
                </a:xfrm>
                <a:prstGeom prst="rect">
                  <a:avLst/>
                </a:prstGeom>
                <a:noFill/>
                <a:ln>
                  <a:noFill/>
                  <a:prstDash val="dash"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b>
                          <m:sup/>
                          <m:e>
                            <m:sSubSup>
                              <m:sSubSupPr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nary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    ∀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F1E6D9BC-2AE3-4507-818A-5E66CBE2B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043" y="3120976"/>
                  <a:ext cx="2405787" cy="8066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  <a:prstDash val="dash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/>
          <p:cNvSpPr txBox="1"/>
          <p:nvPr/>
        </p:nvSpPr>
        <p:spPr>
          <a:xfrm>
            <a:off x="4685016" y="5218360"/>
            <a:ext cx="5280917" cy="12516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fr-FR" dirty="0">
                <a:solidFill>
                  <a:schemeClr val="accent5"/>
                </a:solidFill>
              </a:rPr>
              <a:t>For a </a:t>
            </a:r>
            <a:r>
              <a:rPr lang="fr-FR" dirty="0" err="1">
                <a:solidFill>
                  <a:schemeClr val="accent5"/>
                </a:solidFill>
              </a:rPr>
              <a:t>given</a:t>
            </a:r>
            <a:r>
              <a:rPr lang="fr-FR" dirty="0">
                <a:solidFill>
                  <a:schemeClr val="accent5"/>
                </a:solidFill>
              </a:rPr>
              <a:t> </a:t>
            </a:r>
            <a:r>
              <a:rPr lang="fr-FR" dirty="0" err="1">
                <a:solidFill>
                  <a:schemeClr val="accent5"/>
                </a:solidFill>
              </a:rPr>
              <a:t>number</a:t>
            </a:r>
            <a:r>
              <a:rPr lang="fr-FR" dirty="0">
                <a:solidFill>
                  <a:schemeClr val="accent5"/>
                </a:solidFill>
              </a:rPr>
              <a:t> of </a:t>
            </a:r>
            <a:r>
              <a:rPr lang="fr-FR" dirty="0" err="1">
                <a:solidFill>
                  <a:schemeClr val="accent5"/>
                </a:solidFill>
              </a:rPr>
              <a:t>nodes</a:t>
            </a:r>
            <a:r>
              <a:rPr lang="fr-FR" dirty="0">
                <a:solidFill>
                  <a:schemeClr val="accent5"/>
                </a:solidFill>
              </a:rPr>
              <a:t>, </a:t>
            </a:r>
            <a:r>
              <a:rPr lang="fr-FR" dirty="0" err="1">
                <a:solidFill>
                  <a:schemeClr val="accent5"/>
                </a:solidFill>
              </a:rPr>
              <a:t>density</a:t>
            </a:r>
            <a:r>
              <a:rPr lang="fr-FR" dirty="0">
                <a:solidFill>
                  <a:schemeClr val="accent5"/>
                </a:solidFill>
              </a:rPr>
              <a:t> and </a:t>
            </a:r>
            <a:r>
              <a:rPr lang="fr-FR" dirty="0" err="1">
                <a:solidFill>
                  <a:schemeClr val="accent5"/>
                </a:solidFill>
              </a:rPr>
              <a:t>demand</a:t>
            </a:r>
            <a:r>
              <a:rPr lang="fr-FR" dirty="0">
                <a:solidFill>
                  <a:schemeClr val="accent5"/>
                </a:solidFill>
              </a:rPr>
              <a:t> matrix, </a:t>
            </a:r>
            <a:r>
              <a:rPr lang="fr-FR" dirty="0" err="1">
                <a:solidFill>
                  <a:schemeClr val="accent5"/>
                </a:solidFill>
              </a:rPr>
              <a:t>Generate</a:t>
            </a:r>
            <a:r>
              <a:rPr lang="fr-FR" dirty="0">
                <a:solidFill>
                  <a:schemeClr val="accent5"/>
                </a:solidFill>
              </a:rPr>
              <a:t> 10 </a:t>
            </a:r>
            <a:r>
              <a:rPr lang="fr-FR" dirty="0" err="1">
                <a:solidFill>
                  <a:schemeClr val="accent5"/>
                </a:solidFill>
              </a:rPr>
              <a:t>Challenging</a:t>
            </a:r>
            <a:r>
              <a:rPr lang="fr-FR" dirty="0">
                <a:solidFill>
                  <a:schemeClr val="accent5"/>
                </a:solidFill>
              </a:rPr>
              <a:t> networks for the Multi-</a:t>
            </a:r>
            <a:r>
              <a:rPr lang="fr-FR" dirty="0" err="1">
                <a:solidFill>
                  <a:schemeClr val="accent5"/>
                </a:solidFill>
              </a:rPr>
              <a:t>Commodity</a:t>
            </a:r>
            <a:r>
              <a:rPr lang="fr-FR" dirty="0">
                <a:solidFill>
                  <a:schemeClr val="accent5"/>
                </a:solidFill>
              </a:rPr>
              <a:t> flow </a:t>
            </a:r>
            <a:r>
              <a:rPr lang="fr-FR" dirty="0" err="1">
                <a:solidFill>
                  <a:schemeClr val="accent5"/>
                </a:solidFill>
              </a:rPr>
              <a:t>problem</a:t>
            </a:r>
            <a:r>
              <a:rPr lang="fr-FR" dirty="0">
                <a:solidFill>
                  <a:schemeClr val="accent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25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225" y="267128"/>
            <a:ext cx="6265561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Generative</a:t>
            </a:r>
            <a:r>
              <a:rPr kumimoji="1" lang="fr-FR" sz="28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sz="28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Adversarial</a:t>
            </a:r>
            <a:r>
              <a:rPr kumimoji="1" lang="fr-FR" sz="28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Network (GAN)</a:t>
            </a:r>
          </a:p>
        </p:txBody>
      </p:sp>
      <p:sp>
        <p:nvSpPr>
          <p:cNvPr id="4" name="Oval 3"/>
          <p:cNvSpPr/>
          <p:nvPr/>
        </p:nvSpPr>
        <p:spPr>
          <a:xfrm>
            <a:off x="2034283" y="1751743"/>
            <a:ext cx="2085654" cy="1130157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Generator</a:t>
            </a:r>
            <a:endParaRPr lang="fr-FR" dirty="0"/>
          </a:p>
        </p:txBody>
      </p:sp>
      <p:sp>
        <p:nvSpPr>
          <p:cNvPr id="17" name="Oval 16"/>
          <p:cNvSpPr/>
          <p:nvPr/>
        </p:nvSpPr>
        <p:spPr>
          <a:xfrm>
            <a:off x="5823772" y="3987007"/>
            <a:ext cx="2333947" cy="1130158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Descriminator</a:t>
            </a:r>
            <a:endParaRPr lang="fr-FR" dirty="0"/>
          </a:p>
        </p:txBody>
      </p:sp>
      <p:sp>
        <p:nvSpPr>
          <p:cNvPr id="6" name="Right Arrow 5"/>
          <p:cNvSpPr/>
          <p:nvPr/>
        </p:nvSpPr>
        <p:spPr>
          <a:xfrm>
            <a:off x="673827" y="2085652"/>
            <a:ext cx="1109609" cy="462337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616450" y="1597630"/>
            <a:ext cx="1166986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Input Noise</a:t>
            </a:r>
          </a:p>
        </p:txBody>
      </p:sp>
      <p:sp>
        <p:nvSpPr>
          <p:cNvPr id="20" name="Right Arrow 19"/>
          <p:cNvSpPr/>
          <p:nvPr/>
        </p:nvSpPr>
        <p:spPr>
          <a:xfrm rot="2568107">
            <a:off x="4291129" y="3126231"/>
            <a:ext cx="1445934" cy="462337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ight Arrow 20"/>
          <p:cNvSpPr/>
          <p:nvPr/>
        </p:nvSpPr>
        <p:spPr>
          <a:xfrm>
            <a:off x="4213784" y="4336559"/>
            <a:ext cx="1109609" cy="462337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/>
          <p:cNvSpPr txBox="1"/>
          <p:nvPr/>
        </p:nvSpPr>
        <p:spPr>
          <a:xfrm>
            <a:off x="4130759" y="4867924"/>
            <a:ext cx="1192634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Real 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Result</a:t>
            </a:r>
            <a:endParaRPr kumimoji="1" lang="fr-FR" dirty="0" smtClean="0">
              <a:solidFill>
                <a:srgbClr val="000000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18121" y="2726292"/>
            <a:ext cx="1756891" cy="37959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Generator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Result</a:t>
            </a:r>
            <a:endParaRPr kumimoji="1" lang="fr-FR" dirty="0" smtClean="0">
              <a:solidFill>
                <a:srgbClr val="000000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8302015" y="4567727"/>
            <a:ext cx="1109609" cy="462337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ight Arrow 27"/>
          <p:cNvSpPr/>
          <p:nvPr/>
        </p:nvSpPr>
        <p:spPr>
          <a:xfrm>
            <a:off x="8302015" y="3874222"/>
            <a:ext cx="1109609" cy="462337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/>
          <p:cNvSpPr txBox="1"/>
          <p:nvPr/>
        </p:nvSpPr>
        <p:spPr>
          <a:xfrm>
            <a:off x="9555920" y="3828444"/>
            <a:ext cx="1590179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Generator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Loss</a:t>
            </a:r>
            <a:endParaRPr kumimoji="1" lang="fr-FR" dirty="0" smtClean="0">
              <a:solidFill>
                <a:srgbClr val="000000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555920" y="4545924"/>
            <a:ext cx="1974900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Descriminator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Loss</a:t>
            </a:r>
            <a:endParaRPr kumimoji="1" lang="fr-FR" dirty="0" smtClean="0">
              <a:solidFill>
                <a:srgbClr val="000000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02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225" y="267128"/>
            <a:ext cx="4757713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How to encode the network ?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13" y="2270588"/>
            <a:ext cx="4679025" cy="28819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3866" y="1268858"/>
            <a:ext cx="1885131" cy="37959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err="1" smtClean="0">
                <a:solidFill>
                  <a:schemeClr val="accent5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Adjencency</a:t>
            </a:r>
            <a:r>
              <a:rPr kumimoji="1" lang="fr-FR" dirty="0" smtClean="0">
                <a:solidFill>
                  <a:schemeClr val="accent5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3723" y="1240644"/>
            <a:ext cx="833562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err="1" smtClean="0">
                <a:solidFill>
                  <a:schemeClr val="accent5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Pictures</a:t>
            </a:r>
            <a:endParaRPr kumimoji="1" lang="fr-FR" dirty="0" smtClean="0">
              <a:solidFill>
                <a:schemeClr val="accent5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6076" y="5847898"/>
            <a:ext cx="8119723" cy="872034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lnSpc>
                <a:spcPts val="3440"/>
              </a:lnSpc>
              <a:buFont typeface="Arial" panose="020B0604020202020204" pitchFamily="34" charset="0"/>
              <a:buChar char="•"/>
            </a:pP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Is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there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other</a:t>
            </a:r>
            <a:r>
              <a:rPr kumimoji="1" lang="fr-FR" dirty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options ? </a:t>
            </a:r>
          </a:p>
          <a:p>
            <a:pPr marL="285750" indent="-285750" algn="l">
              <a:lnSpc>
                <a:spcPts val="3440"/>
              </a:lnSpc>
              <a:buFont typeface="Arial" panose="020B0604020202020204" pitchFamily="34" charset="0"/>
              <a:buChar char="•"/>
            </a:pP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Is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it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necessary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to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add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further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information (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Density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, Min\Max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Node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 err="1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degree</a:t>
            </a:r>
            <a:r>
              <a:rPr kumimoji="1" lang="fr-FR" dirty="0" smtClean="0">
                <a:solidFill>
                  <a:schemeClr val="accent1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, ….)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704" y="1806854"/>
            <a:ext cx="3693340" cy="369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0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225" y="267128"/>
            <a:ext cx="3076163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Starting</a:t>
            </a:r>
            <a:r>
              <a:rPr kumimoji="1" lang="fr-FR" sz="28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Structures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2" y="2266041"/>
            <a:ext cx="3139309" cy="35857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938" y="2606373"/>
            <a:ext cx="3177110" cy="25158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048" y="3088616"/>
            <a:ext cx="3139423" cy="15513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2715750"/>
            <a:ext cx="2095500" cy="2095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80674" y="1610745"/>
            <a:ext cx="906787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err="1" smtClean="0">
                <a:solidFill>
                  <a:schemeClr val="bg2">
                    <a:lumMod val="50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Trees</a:t>
            </a:r>
            <a:endParaRPr kumimoji="1" lang="fr-FR" sz="2800" dirty="0" smtClean="0">
              <a:solidFill>
                <a:schemeClr val="bg2">
                  <a:lumMod val="50000"/>
                </a:schemeClr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55034" y="1610745"/>
            <a:ext cx="1078821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smtClean="0">
                <a:solidFill>
                  <a:schemeClr val="bg2">
                    <a:lumMod val="50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8044" y="1610745"/>
            <a:ext cx="1319272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smtClean="0">
                <a:solidFill>
                  <a:schemeClr val="bg2">
                    <a:lumMod val="50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Bipartite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7228" y="1610745"/>
            <a:ext cx="1040349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err="1" smtClean="0">
                <a:solidFill>
                  <a:schemeClr val="bg2">
                    <a:lumMod val="50000"/>
                  </a:schemeClr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Planar</a:t>
            </a:r>
            <a:endParaRPr kumimoji="1" lang="fr-FR" sz="2800" dirty="0" smtClean="0">
              <a:solidFill>
                <a:schemeClr val="bg2">
                  <a:lumMod val="50000"/>
                </a:schemeClr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1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225" y="267128"/>
            <a:ext cx="4336123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sz="28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What</a:t>
            </a:r>
            <a:r>
              <a:rPr kumimoji="1" lang="fr-FR" sz="28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about </a:t>
            </a:r>
            <a:r>
              <a:rPr kumimoji="1" lang="fr-FR" sz="2800" dirty="0" err="1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Optimization</a:t>
            </a:r>
            <a:r>
              <a:rPr kumimoji="1" lang="fr-FR" sz="2800" dirty="0" smtClean="0">
                <a:solidFill>
                  <a:srgbClr val="C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?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1513" y="2784295"/>
            <a:ext cx="3010328" cy="181852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Optimization</a:t>
            </a:r>
            <a:r>
              <a:rPr lang="fr-FR" dirty="0" smtClean="0"/>
              <a:t> model</a:t>
            </a:r>
            <a:endParaRPr lang="fr-FR" dirty="0"/>
          </a:p>
        </p:txBody>
      </p:sp>
      <p:sp>
        <p:nvSpPr>
          <p:cNvPr id="27" name="Rounded Rectangle 26"/>
          <p:cNvSpPr/>
          <p:nvPr/>
        </p:nvSpPr>
        <p:spPr>
          <a:xfrm>
            <a:off x="6550025" y="2784295"/>
            <a:ext cx="3010328" cy="1818526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2"/>
                </a:solidFill>
              </a:rPr>
              <a:t>GAN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 rot="5400000">
            <a:off x="7515795" y="1820775"/>
            <a:ext cx="1078787" cy="49316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/>
          <p:cNvSpPr txBox="1"/>
          <p:nvPr/>
        </p:nvSpPr>
        <p:spPr>
          <a:xfrm>
            <a:off x="8393367" y="1759763"/>
            <a:ext cx="1166986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Input Noise</a:t>
            </a:r>
          </a:p>
        </p:txBody>
      </p:sp>
      <p:sp>
        <p:nvSpPr>
          <p:cNvPr id="29" name="Right Arrow 28"/>
          <p:cNvSpPr/>
          <p:nvPr/>
        </p:nvSpPr>
        <p:spPr>
          <a:xfrm rot="5400000">
            <a:off x="7515795" y="1820776"/>
            <a:ext cx="1078787" cy="49316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/>
          <p:cNvSpPr txBox="1"/>
          <p:nvPr/>
        </p:nvSpPr>
        <p:spPr>
          <a:xfrm>
            <a:off x="8393367" y="1759764"/>
            <a:ext cx="1166986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Input Noise</a:t>
            </a:r>
          </a:p>
        </p:txBody>
      </p:sp>
      <p:sp>
        <p:nvSpPr>
          <p:cNvPr id="31" name="Right Arrow 30"/>
          <p:cNvSpPr/>
          <p:nvPr/>
        </p:nvSpPr>
        <p:spPr>
          <a:xfrm rot="10800000">
            <a:off x="4984311" y="3446978"/>
            <a:ext cx="1078787" cy="49316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/>
          <p:cNvSpPr txBox="1"/>
          <p:nvPr/>
        </p:nvSpPr>
        <p:spPr>
          <a:xfrm>
            <a:off x="5100511" y="2994468"/>
            <a:ext cx="846386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Network</a:t>
            </a:r>
          </a:p>
        </p:txBody>
      </p:sp>
      <p:sp>
        <p:nvSpPr>
          <p:cNvPr id="8" name="U-Turn Arrow 7"/>
          <p:cNvSpPr/>
          <p:nvPr/>
        </p:nvSpPr>
        <p:spPr>
          <a:xfrm>
            <a:off x="3058525" y="1527962"/>
            <a:ext cx="4582276" cy="107878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9669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02385" y="1003983"/>
            <a:ext cx="2842638" cy="4360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Binary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Variable (Hard\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Easy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44658" y="5098868"/>
            <a:ext cx="4448709" cy="1308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An instance 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is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hard if :</a:t>
            </a:r>
          </a:p>
          <a:p>
            <a:pPr marL="285750" indent="-285750" algn="l">
              <a:lnSpc>
                <a:spcPts val="3440"/>
              </a:lnSpc>
              <a:buFont typeface="Arial" panose="020B0604020202020204" pitchFamily="34" charset="0"/>
              <a:buChar char="•"/>
            </a:pP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CPU &gt; 10 seconds</a:t>
            </a:r>
          </a:p>
          <a:p>
            <a:pPr marL="285750" indent="-285750">
              <a:lnSpc>
                <a:spcPts val="3440"/>
              </a:lnSpc>
              <a:buFont typeface="Arial" panose="020B0604020202020204" pitchFamily="34" charset="0"/>
              <a:buChar char="•"/>
            </a:pP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Optimality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fr-FR" dirty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Gap  &gt; </a:t>
            </a:r>
            <a:r>
              <a:rPr kumimoji="1" lang="fr-FR" dirty="0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40% at the time </a:t>
            </a:r>
            <a:r>
              <a:rPr kumimoji="1" lang="fr-FR" dirty="0" err="1" smtClean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limit</a:t>
            </a:r>
            <a:endParaRPr kumimoji="1" lang="fr-FR" dirty="0" smtClean="0">
              <a:solidFill>
                <a:srgbClr val="000000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43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4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274</TotalTime>
  <Words>136</Words>
  <Application>Microsoft Office PowerPoint</Application>
  <PresentationFormat>Custom</PresentationFormat>
  <Paragraphs>42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等线</vt:lpstr>
      <vt:lpstr>Microsoft YaHei</vt:lpstr>
      <vt:lpstr>黑体</vt:lpstr>
      <vt:lpstr>Arial</vt:lpstr>
      <vt:lpstr>Calibri</vt:lpstr>
      <vt:lpstr>Cambria Math</vt:lpstr>
      <vt:lpstr>Cover page_Image version</vt:lpstr>
      <vt:lpstr>Contents page</vt:lpstr>
      <vt:lpstr>Chapter page</vt:lpstr>
      <vt:lpstr>End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Youcef MAGNOUCHE</dc:creator>
  <cp:lastModifiedBy>Youcef MAGNOUCHE</cp:lastModifiedBy>
  <cp:revision>10</cp:revision>
  <dcterms:created xsi:type="dcterms:W3CDTF">2023-09-19T07:06:50Z</dcterms:created>
  <dcterms:modified xsi:type="dcterms:W3CDTF">2024-10-09T13:16:46Z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(3)ugBKOaJyAF+2ZR8jdmExaFyacnrLcOwJqVgt/eiAt7/9uRLjr3/83KfJXffCG1wvFVPSeP10
Dc9NNvHGUWrwtwKACI6q6nDY7NcezUIoD4FKlBcwq+4v0WlhdB9lj0DU9yPD/pgUXpzsro2u
qH2gSWTEwE78MEIg1nzvtxQ2ZrfVnJBql/WHhocm4WT+ALysekkM6h0D9v0dW90TDYeYAG8j
F4acTwDjPQB6Jvly/+</vt:lpwstr>
  </property>
  <property fmtid="{D5CDD505-2E9C-101B-9397-08002B2CF9AE}" pid="3" name="_2015_ms_pID_7253431">
    <vt:lpwstr>ziE1NCCJC2r3LDBHX5YS2y7Ei0yQjdt8IjSc6yaAzte6h9Vt2gm8GZ
IM9TVOOKsMVISWjPqTgRugMCEJJWz6zy8rzra4pEkJAAB9dSeb5WK2/Db6SCD4fOzPUpgWrB
TOuzAnrO4ie8dOvwiDydG3gULlJEXIFwJA5FjFT/amCZXakQtTLPQt9wmFCgTXIE+0BQ1Dnl
DNFUwz7BcD0XcrT4PaEJA2t/uvsWcaRAofjt</vt:lpwstr>
  </property>
  <property fmtid="{D5CDD505-2E9C-101B-9397-08002B2CF9AE}" pid="4" name="_2015_ms_pID_7253432">
    <vt:lpwstr>IQ==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